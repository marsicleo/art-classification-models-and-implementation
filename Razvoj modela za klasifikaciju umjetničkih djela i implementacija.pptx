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82" r:id="rId6"/>
    <p:sldId id="261" r:id="rId7"/>
    <p:sldId id="262" r:id="rId8"/>
    <p:sldId id="263" r:id="rId9"/>
    <p:sldId id="259" r:id="rId10"/>
    <p:sldId id="265" r:id="rId11"/>
    <p:sldId id="267" r:id="rId12"/>
    <p:sldId id="269" r:id="rId13"/>
    <p:sldId id="272" r:id="rId14"/>
    <p:sldId id="270" r:id="rId15"/>
    <p:sldId id="283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80ABF-8C8D-416D-B6BA-F9DB9EB636CB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03D0A-B20F-4CB3-B947-4E6458A81FB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54047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03D0A-B20F-4CB3-B947-4E6458A81FBF}" type="slidenum">
              <a:rPr lang="en-150" smtClean="0"/>
              <a:t>2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166372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varijanca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,,</a:t>
            </a:r>
            <a:r>
              <a:rPr lang="en-US" dirty="0" err="1"/>
              <a:t>boja</a:t>
            </a:r>
            <a:r>
              <a:rPr lang="en-US" dirty="0"/>
              <a:t> </a:t>
            </a:r>
            <a:r>
              <a:rPr lang="en-US" dirty="0" err="1"/>
              <a:t>šum</a:t>
            </a:r>
            <a:r>
              <a:rPr lang="en-US" dirty="0"/>
              <a:t> </a:t>
            </a:r>
            <a:r>
              <a:rPr lang="en-US" dirty="0" err="1"/>
              <a:t>kist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drugo</a:t>
            </a:r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03D0A-B20F-4CB3-B947-4E6458A81FBF}" type="slidenum">
              <a:rPr lang="en-150" smtClean="0"/>
              <a:t>3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51057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03D0A-B20F-4CB3-B947-4E6458A81FBF}" type="slidenum">
              <a:rPr lang="en-150" smtClean="0"/>
              <a:t>7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5526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11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3311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03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8046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8317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1646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9274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230374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8740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99342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46119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FC678CF-CEF6-41A0-818E-34435BB989ED}" type="datetimeFigureOut">
              <a:rPr lang="en-150" smtClean="0"/>
              <a:t>03/02/2026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24D4F56-9EAC-4AC3-AC7F-611296AF7CDC}" type="slidenum">
              <a:rPr lang="en-150" smtClean="0"/>
              <a:t>‹#›</a:t>
            </a:fld>
            <a:endParaRPr lang="en-15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9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3D3E-8E32-F3EB-259A-447B662C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342" y="1026710"/>
            <a:ext cx="10445444" cy="4205166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Razvoj modela za klasifikaciju umjetničkih djela i implementacija putem mobilne aplikacije</a:t>
            </a:r>
            <a:br>
              <a:rPr lang="hr-HR" noProof="0" dirty="0"/>
            </a:br>
            <a:endParaRPr lang="hr-HR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E468-A9B3-22C3-BC82-62C320573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533697"/>
            <a:ext cx="9212317" cy="836940"/>
          </a:xfrm>
        </p:spPr>
        <p:txBody>
          <a:bodyPr>
            <a:normAutofit fontScale="92500" lnSpcReduction="10000"/>
          </a:bodyPr>
          <a:lstStyle/>
          <a:p>
            <a:r>
              <a:rPr lang="hr-HR" noProof="0" dirty="0"/>
              <a:t>Leo Maršić</a:t>
            </a:r>
          </a:p>
          <a:p>
            <a:r>
              <a:rPr lang="hr-HR" noProof="0" dirty="0"/>
              <a:t>Mentor: prof. dr. sc. Marina </a:t>
            </a:r>
            <a:r>
              <a:rPr lang="hr-HR" noProof="0" dirty="0" err="1"/>
              <a:t>Ivašić</a:t>
            </a:r>
            <a:r>
              <a:rPr lang="hr-HR" noProof="0" dirty="0"/>
              <a:t>-Kos</a:t>
            </a:r>
          </a:p>
        </p:txBody>
      </p:sp>
    </p:spTree>
    <p:extLst>
      <p:ext uri="{BB962C8B-B14F-4D97-AF65-F5344CB8AC3E}">
        <p14:creationId xmlns:p14="http://schemas.microsoft.com/office/powerpoint/2010/main" val="278629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9D9C-1491-2E0D-BCE0-52687B0C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Sažetak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AA37-93F1-1887-6FB4-77C8A6FF4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Cilj je istražiti, izraditi i evaluirati cjelokupni sustav za klasifikaciju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noProof="0" dirty="0"/>
              <a:t>Prikupiti skup podataka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noProof="0" dirty="0"/>
              <a:t>Odrediti modele za testiranje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noProof="0" dirty="0"/>
              <a:t>Testirati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noProof="0" dirty="0"/>
              <a:t>Evaluirati najbolji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noProof="0" dirty="0"/>
              <a:t>Napraviti aplikaciju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noProof="0" dirty="0"/>
              <a:t>Implementirati model u aplikaciju</a:t>
            </a:r>
          </a:p>
          <a:p>
            <a:pPr>
              <a:buFont typeface="Wingdings" panose="05000000000000000000" pitchFamily="2" charset="2"/>
              <a:buChar char="§"/>
            </a:pP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49788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B134-C2F8-8A38-9805-805E20EF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Klasifikacija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E307E-A432-D575-13D2-FE8D2E54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Prepoznavanje vizualnog stila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Tehnika crtanja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Problemi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Klasna varijabilnost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Klasna preklapanja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Ovisno o kvaliteti slike</a:t>
            </a:r>
          </a:p>
          <a:p>
            <a:pPr marL="0" indent="0">
              <a:buNone/>
            </a:pP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26949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7A5D-0314-9C64-03BD-975E6A76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 err="1"/>
              <a:t>The</a:t>
            </a:r>
            <a:r>
              <a:rPr lang="hr-HR" noProof="0" dirty="0"/>
              <a:t> Tate </a:t>
            </a:r>
            <a:r>
              <a:rPr lang="hr-HR" noProof="0" dirty="0" err="1"/>
              <a:t>Collection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69E11-5CB8-6F07-D17E-BF0A16CAC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Original: 70 000+ podataka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Čišćenje: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datoteke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skupa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Finalno: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58 086 umjetnina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61 klasa</a:t>
            </a:r>
          </a:p>
          <a:p>
            <a:pPr marL="0" indent="0">
              <a:buNone/>
            </a:pP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94273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45E8-2E05-972E-9E24-DC3E5F58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noProof="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85AF45-133F-1D32-0D75-D6507EE7B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1785698"/>
            <a:ext cx="5488063" cy="2005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D00688-EE2E-AB1C-C7CE-A7D1E73A4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452" y="3790952"/>
            <a:ext cx="7257175" cy="176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11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F624-F8FF-4836-FEE2-1C989605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Klase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16AC-9AC7-3CC4-03A6-EC729BBC2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pic>
        <p:nvPicPr>
          <p:cNvPr id="4" name="Picture 3" descr="A graph with text overlay&#10;&#10;AI-generated content may be incorrect.">
            <a:extLst>
              <a:ext uri="{FF2B5EF4-FFF2-40B4-BE49-F238E27FC236}">
                <a16:creationId xmlns:a16="http://schemas.microsoft.com/office/drawing/2014/main" id="{E88B243F-B6E9-90D3-04DF-973B8B5DF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056" y="1822942"/>
            <a:ext cx="8137888" cy="406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3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3A42-BFFD-6FF3-A96E-FEE92E48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Tehnologije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8068D-DE93-10BC-3472-149EAED2D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noProof="0" dirty="0"/>
              <a:t>Python 3.9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noProof="0" dirty="0" err="1"/>
              <a:t>TensorFlow</a:t>
            </a:r>
            <a:r>
              <a:rPr lang="hr-HR" noProof="0" dirty="0"/>
              <a:t>, </a:t>
            </a:r>
            <a:r>
              <a:rPr lang="hr-HR" noProof="0" dirty="0" err="1"/>
              <a:t>Keras</a:t>
            </a:r>
            <a:endParaRPr lang="hr-HR" noProof="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noProof="0" dirty="0" err="1"/>
              <a:t>Hugging</a:t>
            </a:r>
            <a:r>
              <a:rPr lang="hr-HR" noProof="0" dirty="0"/>
              <a:t> Face </a:t>
            </a:r>
            <a:r>
              <a:rPr lang="hr-HR" noProof="0" dirty="0" err="1"/>
              <a:t>Transformers</a:t>
            </a:r>
            <a:endParaRPr lang="hr-HR" noProof="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noProof="0" dirty="0" err="1"/>
              <a:t>Mlflow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4102901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90CB-AF6A-2207-FB0A-83B5B7CE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 err="1"/>
              <a:t>Mflow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AA8EB-93AE-72AE-8E36-59FCDCFB4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Verzije modela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Arhitektura, </a:t>
            </a:r>
            <a:r>
              <a:rPr lang="hr-HR" noProof="0" dirty="0" err="1"/>
              <a:t>batch</a:t>
            </a:r>
            <a:r>
              <a:rPr lang="hr-HR" noProof="0" dirty="0"/>
              <a:t> </a:t>
            </a:r>
            <a:r>
              <a:rPr lang="hr-HR" noProof="0" dirty="0" err="1"/>
              <a:t>size</a:t>
            </a:r>
            <a:r>
              <a:rPr lang="hr-HR" noProof="0" dirty="0"/>
              <a:t>…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Metrike: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preciznost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f1-score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odaziv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točnost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0" dirty="0"/>
              <a:t>Confusion matrix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39996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1B37-C055-51DA-15E8-EFDF5EC3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Opcije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9F81-26E1-D413-AFFC-679B3EA0D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r-HR" sz="2400" noProof="0" dirty="0" err="1"/>
              <a:t>EfficientNet</a:t>
            </a:r>
            <a:endParaRPr lang="hr-HR" sz="24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sz="2200" noProof="0" dirty="0" err="1"/>
              <a:t>ImageNet</a:t>
            </a:r>
            <a:endParaRPr lang="hr-HR" sz="22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sz="2200" noProof="0" dirty="0"/>
              <a:t>Točnost, efikasnost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sz="2400" noProof="0" dirty="0" err="1"/>
              <a:t>Vision</a:t>
            </a:r>
            <a:r>
              <a:rPr lang="hr-HR" sz="2400" noProof="0" dirty="0"/>
              <a:t> </a:t>
            </a:r>
            <a:r>
              <a:rPr lang="hr-HR" sz="2400" noProof="0" dirty="0" err="1"/>
              <a:t>transformer</a:t>
            </a:r>
            <a:endParaRPr lang="hr-HR" sz="24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sz="2200" noProof="0" dirty="0" err="1"/>
              <a:t>ImageNet</a:t>
            </a:r>
            <a:endParaRPr lang="hr-HR" sz="22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sz="2200" noProof="0" dirty="0" err="1"/>
              <a:t>Self</a:t>
            </a:r>
            <a:r>
              <a:rPr lang="hr-HR" sz="2200" noProof="0" dirty="0"/>
              <a:t> </a:t>
            </a:r>
            <a:r>
              <a:rPr lang="hr-HR" sz="2200" noProof="0" dirty="0" err="1"/>
              <a:t>attention</a:t>
            </a:r>
            <a:endParaRPr lang="hr-HR" sz="22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sz="2200" noProof="0" dirty="0"/>
              <a:t>Veliki skupovi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sz="2400" noProof="0" dirty="0" err="1"/>
              <a:t>MobileNet</a:t>
            </a:r>
            <a:endParaRPr lang="hr-HR" sz="24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sz="2200" noProof="0" dirty="0" err="1"/>
              <a:t>ImageNet</a:t>
            </a:r>
            <a:endParaRPr lang="hr-HR" sz="2200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noProof="0" dirty="0"/>
              <a:t>B</a:t>
            </a:r>
            <a:r>
              <a:rPr lang="hr-HR" sz="2200" noProof="0" dirty="0" err="1"/>
              <a:t>rzina</a:t>
            </a:r>
            <a:r>
              <a:rPr lang="hr-HR" sz="2200" noProof="0" dirty="0"/>
              <a:t>, optimizacija</a:t>
            </a:r>
          </a:p>
          <a:p>
            <a:pPr>
              <a:buFont typeface="Wingdings" panose="05000000000000000000" pitchFamily="2" charset="2"/>
              <a:buChar char="§"/>
            </a:pPr>
            <a:endParaRPr lang="hr-HR" sz="2400" noProof="0" dirty="0"/>
          </a:p>
        </p:txBody>
      </p:sp>
    </p:spTree>
    <p:extLst>
      <p:ext uri="{BB962C8B-B14F-4D97-AF65-F5344CB8AC3E}">
        <p14:creationId xmlns:p14="http://schemas.microsoft.com/office/powerpoint/2010/main" val="208830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AFB8-8B65-C7A5-0216-17E53C7E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Zajednički parametri modela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D2AE-7524-3E8D-2B3D-C3464A19B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dirty="0"/>
              <a:t>Podjela podataka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noProof="0" dirty="0"/>
              <a:t>Adam </a:t>
            </a:r>
            <a:r>
              <a:rPr lang="hr-HR" noProof="0" dirty="0" err="1"/>
              <a:t>optimizator</a:t>
            </a:r>
            <a:endParaRPr lang="hr-HR" noProof="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r-HR" noProof="0" dirty="0"/>
              <a:t>Utezi </a:t>
            </a:r>
            <a:endParaRPr 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hr-HR" noProof="0" dirty="0" err="1"/>
              <a:t>stratify</a:t>
            </a:r>
            <a:endParaRPr 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class_weights</a:t>
            </a: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01168" lvl="1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82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88DE-72D8-FFE8-403C-FD25459A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Najbolji rezultat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B1553-47BD-0C43-7711-025B2C27E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 err="1"/>
              <a:t>ViT</a:t>
            </a:r>
            <a:r>
              <a:rPr lang="hr-HR" noProof="0" dirty="0"/>
              <a:t> B/16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Točnost 63.24%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F1-score: 0.4268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455FD5-DBEC-2D8C-222A-F50541BC1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020" y="1955434"/>
            <a:ext cx="5727700" cy="179451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6CEA11-5D58-D344-66D4-B806757F25DB}"/>
              </a:ext>
            </a:extLst>
          </p:cNvPr>
          <p:cNvSpPr txBox="1"/>
          <p:nvPr/>
        </p:nvSpPr>
        <p:spPr>
          <a:xfrm>
            <a:off x="5644293" y="37499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noProof="0" dirty="0"/>
              <a:t>Oil </a:t>
            </a:r>
            <a:r>
              <a:rPr lang="hr-HR" noProof="0" dirty="0" err="1"/>
              <a:t>paint</a:t>
            </a:r>
            <a:r>
              <a:rPr lang="hr-HR" noProof="0" dirty="0"/>
              <a:t> on </a:t>
            </a:r>
            <a:r>
              <a:rPr lang="hr-HR" noProof="0" dirty="0" err="1"/>
              <a:t>canvas</a:t>
            </a:r>
            <a:r>
              <a:rPr lang="hr-HR" noProof="0" dirty="0"/>
              <a:t>  -  </a:t>
            </a:r>
            <a:r>
              <a:rPr lang="hr-HR" noProof="0" dirty="0" err="1"/>
              <a:t>Plaster</a:t>
            </a:r>
            <a:r>
              <a:rPr lang="hr-HR" noProof="0" dirty="0"/>
              <a:t> - </a:t>
            </a:r>
            <a:r>
              <a:rPr lang="hr-HR" noProof="0" dirty="0" err="1"/>
              <a:t>Intaglio</a:t>
            </a:r>
            <a:r>
              <a:rPr lang="hr-HR" noProof="0" dirty="0"/>
              <a:t> on </a:t>
            </a:r>
            <a:r>
              <a:rPr lang="hr-HR" noProof="0" dirty="0" err="1"/>
              <a:t>paper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23407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pic>
        <p:nvPicPr>
          <p:cNvPr id="4" name="Content Placeholder 3" descr="A blue and white grid with black dots&#10;&#10;AI-generated content may be incorrect.">
            <a:extLst>
              <a:ext uri="{FF2B5EF4-FFF2-40B4-BE49-F238E27FC236}">
                <a16:creationId xmlns:a16="http://schemas.microsoft.com/office/drawing/2014/main" id="{B8DF0ADF-C1BD-FE07-CA63-7CD031C87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04" y="532476"/>
            <a:ext cx="5365946" cy="576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1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8686-15EF-F33E-FA0F-D786418E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Tablica najboljih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F63D06-7441-9297-12F8-D290A8735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437850"/>
              </p:ext>
            </p:extLst>
          </p:nvPr>
        </p:nvGraphicFramePr>
        <p:xfrm>
          <a:off x="2242978" y="2558097"/>
          <a:ext cx="7706043" cy="1741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1773">
                  <a:extLst>
                    <a:ext uri="{9D8B030D-6E8A-4147-A177-3AD203B41FA5}">
                      <a16:colId xmlns:a16="http://schemas.microsoft.com/office/drawing/2014/main" val="3071495353"/>
                    </a:ext>
                  </a:extLst>
                </a:gridCol>
                <a:gridCol w="1533354">
                  <a:extLst>
                    <a:ext uri="{9D8B030D-6E8A-4147-A177-3AD203B41FA5}">
                      <a16:colId xmlns:a16="http://schemas.microsoft.com/office/drawing/2014/main" val="2350433428"/>
                    </a:ext>
                  </a:extLst>
                </a:gridCol>
                <a:gridCol w="1532500">
                  <a:extLst>
                    <a:ext uri="{9D8B030D-6E8A-4147-A177-3AD203B41FA5}">
                      <a16:colId xmlns:a16="http://schemas.microsoft.com/office/drawing/2014/main" val="4089939208"/>
                    </a:ext>
                  </a:extLst>
                </a:gridCol>
                <a:gridCol w="1534208">
                  <a:extLst>
                    <a:ext uri="{9D8B030D-6E8A-4147-A177-3AD203B41FA5}">
                      <a16:colId xmlns:a16="http://schemas.microsoft.com/office/drawing/2014/main" val="1391899787"/>
                    </a:ext>
                  </a:extLst>
                </a:gridCol>
                <a:gridCol w="1534208">
                  <a:extLst>
                    <a:ext uri="{9D8B030D-6E8A-4147-A177-3AD203B41FA5}">
                      <a16:colId xmlns:a16="http://schemas.microsoft.com/office/drawing/2014/main" val="750069569"/>
                    </a:ext>
                  </a:extLst>
                </a:gridCol>
              </a:tblGrid>
              <a:tr h="7106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Model 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Točnost test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F1 ocjena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Preciznost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Odaziv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6229354"/>
                  </a:ext>
                </a:extLst>
              </a:tr>
              <a:tr h="3437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 err="1">
                          <a:effectLst/>
                        </a:rPr>
                        <a:t>ViT</a:t>
                      </a:r>
                      <a:r>
                        <a:rPr lang="hr-HR" sz="900" noProof="0" dirty="0">
                          <a:effectLst/>
                        </a:rPr>
                        <a:t>-B/16 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63.24%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0.4268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0.4402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0.5323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0438908"/>
                  </a:ext>
                </a:extLst>
              </a:tr>
              <a:tr h="3437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EfficientNetB0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57.28%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0.3373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0.3745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0.4724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8193431"/>
                  </a:ext>
                </a:extLst>
              </a:tr>
              <a:tr h="3437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MobileNetV3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32.42%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0.0559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0.0727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900" noProof="0" dirty="0">
                          <a:effectLst/>
                        </a:rPr>
                        <a:t>0.1330</a:t>
                      </a:r>
                      <a:endParaRPr lang="hr-HR" sz="1200" noProof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1496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44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5B7B-B45C-84C8-2271-AE91E980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Mobilna aplikacija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5A768-C7C3-2E3F-BC02-F50C9327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Android Studio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Implementacija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Server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hr-HR" noProof="0" dirty="0" err="1"/>
              <a:t>Flask</a:t>
            </a:r>
            <a:endParaRPr lang="hr-HR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Lokalno na mobilnom uređaju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hr-HR" noProof="0" dirty="0" err="1"/>
              <a:t>TensorFlow</a:t>
            </a:r>
            <a:r>
              <a:rPr lang="hr-HR" noProof="0" dirty="0"/>
              <a:t> Lite</a:t>
            </a:r>
          </a:p>
        </p:txBody>
      </p:sp>
    </p:spTree>
    <p:extLst>
      <p:ext uri="{BB962C8B-B14F-4D97-AF65-F5344CB8AC3E}">
        <p14:creationId xmlns:p14="http://schemas.microsoft.com/office/powerpoint/2010/main" val="1475332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7211D9-E545-4D00-9874-641EC7C7B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BBC34A-8C43-4368-951E-A04EB7C00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5701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590E0F6B-7DD4-2C2C-E3FE-420ED50D3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859" y="480060"/>
            <a:ext cx="2821136" cy="593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38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F021-7437-490E-10FC-BFEA0073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Usporedba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74A2-3053-1710-7525-10A82DDA6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Server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Vrijeme prijenosa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Ovisi o mreži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Dobra točnost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r-HR" noProof="0" dirty="0"/>
              <a:t>Lokalno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Snaga procesora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r-HR" noProof="0" dirty="0"/>
              <a:t>Lošija preciznost</a:t>
            </a:r>
          </a:p>
        </p:txBody>
      </p:sp>
    </p:spTree>
    <p:extLst>
      <p:ext uri="{BB962C8B-B14F-4D97-AF65-F5344CB8AC3E}">
        <p14:creationId xmlns:p14="http://schemas.microsoft.com/office/powerpoint/2010/main" val="42494659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3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595959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1181</TotalTime>
  <Words>235</Words>
  <Application>Microsoft Office PowerPoint</Application>
  <PresentationFormat>Widescreen</PresentationFormat>
  <Paragraphs>104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Calibri</vt:lpstr>
      <vt:lpstr>Calibri Light</vt:lpstr>
      <vt:lpstr>Times New Roman</vt:lpstr>
      <vt:lpstr>Wingdings</vt:lpstr>
      <vt:lpstr>Retrospect</vt:lpstr>
      <vt:lpstr>Razvoj modela za klasifikaciju umjetničkih djela i implementacija putem mobilne aplikacije </vt:lpstr>
      <vt:lpstr>Sažetak</vt:lpstr>
      <vt:lpstr>Klasifikacija</vt:lpstr>
      <vt:lpstr>The Tate Collection</vt:lpstr>
      <vt:lpstr>PowerPoint Presentation</vt:lpstr>
      <vt:lpstr>Klase</vt:lpstr>
      <vt:lpstr>Tehnologije</vt:lpstr>
      <vt:lpstr>Mflow</vt:lpstr>
      <vt:lpstr>Opcije</vt:lpstr>
      <vt:lpstr>Zajednički parametri modela</vt:lpstr>
      <vt:lpstr>Najbolji rezultat</vt:lpstr>
      <vt:lpstr>PowerPoint Presentation</vt:lpstr>
      <vt:lpstr>Tablica najboljih</vt:lpstr>
      <vt:lpstr>Mobilna aplikacija</vt:lpstr>
      <vt:lpstr>PowerPoint Presentation</vt:lpstr>
      <vt:lpstr>Usporedba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Hehe Oiu</dc:creator>
  <cp:lastModifiedBy>Hehe Oiu</cp:lastModifiedBy>
  <cp:revision>30</cp:revision>
  <dcterms:created xsi:type="dcterms:W3CDTF">2025-09-15T19:39:10Z</dcterms:created>
  <dcterms:modified xsi:type="dcterms:W3CDTF">2026-02-03T15:24:36Z</dcterms:modified>
</cp:coreProperties>
</file>